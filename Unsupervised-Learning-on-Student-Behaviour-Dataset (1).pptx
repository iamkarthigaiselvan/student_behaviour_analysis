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Inconsolata"/>
      <p:regular r:id="rId17"/>
    </p:embeddedFont>
    <p:embeddedFont>
      <p:font typeface="Inconsolata"/>
      <p:regular r:id="rId18"/>
    </p:embeddedFont>
    <p:embeddedFont>
      <p:font typeface="Fira Sans"/>
      <p:regular r:id="rId19"/>
    </p:embeddedFont>
    <p:embeddedFont>
      <p:font typeface="Fira Sans"/>
      <p:regular r:id="rId20"/>
    </p:embeddedFont>
    <p:embeddedFont>
      <p:font typeface="Fira Sans"/>
      <p:regular r:id="rId21"/>
    </p:embeddedFont>
    <p:embeddedFont>
      <p:font typeface="Fira Sans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6.xml"/><Relationship Id="rId7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slideLayout" Target="../slideLayouts/slideLayout8.xml"/><Relationship Id="rId1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0.xml"/><Relationship Id="rId4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slideLayout" Target="../slideLayouts/slideLayout1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43355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48" y="608290"/>
            <a:ext cx="5259586" cy="701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0190" y="2706172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Unsupervised Learning on Student Behaviour Dataset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6280190" y="446389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Clustering Analysis using Machine Learning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6280190" y="5081945"/>
            <a:ext cx="952262" cy="441484"/>
          </a:xfrm>
          <a:prstGeom prst="roundRect">
            <a:avLst>
              <a:gd name="adj" fmla="val 6165"/>
            </a:avLst>
          </a:prstGeom>
          <a:noFill/>
          <a:ln w="7620">
            <a:solidFill>
              <a:srgbClr val="F94CA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23898" y="5157549"/>
            <a:ext cx="664845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F94CA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PYTHON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345799" y="5081945"/>
            <a:ext cx="1384221" cy="441484"/>
          </a:xfrm>
          <a:prstGeom prst="roundRect">
            <a:avLst>
              <a:gd name="adj" fmla="val 6165"/>
            </a:avLst>
          </a:prstGeom>
          <a:noFill/>
          <a:ln w="7620">
            <a:solidFill>
              <a:srgbClr val="F94CA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89508" y="5157549"/>
            <a:ext cx="1096804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F94CA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SCIKIT-LEARN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843367" y="5081945"/>
            <a:ext cx="2392561" cy="441484"/>
          </a:xfrm>
          <a:prstGeom prst="roundRect">
            <a:avLst>
              <a:gd name="adj" fmla="val 6165"/>
            </a:avLst>
          </a:prstGeom>
          <a:noFill/>
          <a:ln w="7620">
            <a:solidFill>
              <a:srgbClr val="F94CA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987076" y="5157549"/>
            <a:ext cx="2105144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F94CA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UNSUPERVISED LEARNING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4260" y="610076"/>
            <a:ext cx="8238292" cy="664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41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What Are We Trying to Discover?</a:t>
            </a:r>
            <a:endParaRPr lang="en-US" sz="4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4260" y="1797725"/>
            <a:ext cx="4262438" cy="42624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32953" y="3178731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Project Objective</a:t>
            </a:r>
            <a:endParaRPr lang="en-US" sz="2050" dirty="0"/>
          </a:p>
        </p:txBody>
      </p:sp>
      <p:sp>
        <p:nvSpPr>
          <p:cNvPr id="5" name="Text 2"/>
          <p:cNvSpPr/>
          <p:nvPr/>
        </p:nvSpPr>
        <p:spPr>
          <a:xfrm>
            <a:off x="5532953" y="3710345"/>
            <a:ext cx="8360688" cy="988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 xml:space="preserve">Analyse student behavioural data to </a:t>
            </a:r>
            <a:pPr algn="l" indent="0" marL="0">
              <a:lnSpc>
                <a:spcPts val="2550"/>
              </a:lnSpc>
              <a:buNone/>
            </a:pPr>
            <a:r>
              <a:rPr lang="en-US" sz="165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group learners with similar patterns</a:t>
            </a:r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 xml:space="preserve"> — without using any pre-existing labels. The goal is to let the data reveal its own hidden structure.</a:t>
            </a:r>
            <a:endParaRPr lang="en-US" sz="16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913" y="6515100"/>
            <a:ext cx="318968" cy="3189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35298" y="6508552"/>
            <a:ext cx="2923223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Group Similar Learners</a:t>
            </a:r>
            <a:endParaRPr lang="en-US" sz="2050" dirty="0"/>
          </a:p>
        </p:txBody>
      </p:sp>
      <p:sp>
        <p:nvSpPr>
          <p:cNvPr id="8" name="Text 4"/>
          <p:cNvSpPr/>
          <p:nvPr/>
        </p:nvSpPr>
        <p:spPr>
          <a:xfrm>
            <a:off x="1435298" y="6960394"/>
            <a:ext cx="3523417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Cluster students based on academic and behavioural features</a:t>
            </a:r>
            <a:endParaRPr lang="en-US" sz="16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87566" y="6515100"/>
            <a:ext cx="318968" cy="3189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898952" y="6508552"/>
            <a:ext cx="3454718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Identify Engagement Levels</a:t>
            </a:r>
            <a:endParaRPr lang="en-US" sz="2050" dirty="0"/>
          </a:p>
        </p:txBody>
      </p:sp>
      <p:sp>
        <p:nvSpPr>
          <p:cNvPr id="11" name="Text 6"/>
          <p:cNvSpPr/>
          <p:nvPr/>
        </p:nvSpPr>
        <p:spPr>
          <a:xfrm>
            <a:off x="5898952" y="6960394"/>
            <a:ext cx="3523417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Surface high, medium, and low engagement segments</a:t>
            </a:r>
            <a:endParaRPr lang="en-US" sz="16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751219" y="6515100"/>
            <a:ext cx="318968" cy="3189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362605" y="6508552"/>
            <a:ext cx="2790349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Unsupervised Approach</a:t>
            </a:r>
            <a:endParaRPr lang="en-US" sz="2050" dirty="0"/>
          </a:p>
        </p:txBody>
      </p:sp>
      <p:sp>
        <p:nvSpPr>
          <p:cNvPr id="14" name="Text 8"/>
          <p:cNvSpPr/>
          <p:nvPr/>
        </p:nvSpPr>
        <p:spPr>
          <a:xfrm>
            <a:off x="10362605" y="6960394"/>
            <a:ext cx="3523417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Discover patterns with no labelled training data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611" y="599480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Dataset at a Glance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694611" y="1566863"/>
            <a:ext cx="13241179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 xml:space="preserve">The </a:t>
            </a:r>
            <a:pPr algn="l" indent="0" marL="0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Student Behaviour Dataset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 xml:space="preserve"> contains ~480 student records across multiple academic and behavioural dimensions.</a:t>
            </a:r>
            <a:endParaRPr lang="en-US" sz="1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611" y="2059781"/>
            <a:ext cx="1384816" cy="13848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94611" y="366164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Raised Hands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694611" y="4075986"/>
            <a:ext cx="3147417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Measures class participation and in-session engagement</a:t>
            </a:r>
            <a:endParaRPr lang="en-US" sz="15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9079" y="2059781"/>
            <a:ext cx="1384816" cy="138481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059079" y="366164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Visited Resources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4059079" y="4075986"/>
            <a:ext cx="3147536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Tracks how often students access study materials</a:t>
            </a:r>
            <a:endParaRPr lang="en-US" sz="15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3666" y="2059781"/>
            <a:ext cx="1384816" cy="138481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423666" y="366164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Announcements View</a:t>
            </a:r>
            <a:endParaRPr lang="en-US" sz="1950" dirty="0"/>
          </a:p>
        </p:txBody>
      </p:sp>
      <p:sp>
        <p:nvSpPr>
          <p:cNvPr id="12" name="Text 7"/>
          <p:cNvSpPr/>
          <p:nvPr/>
        </p:nvSpPr>
        <p:spPr>
          <a:xfrm>
            <a:off x="7423666" y="4075986"/>
            <a:ext cx="3147536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Frequency of checking course announcements</a:t>
            </a:r>
            <a:endParaRPr lang="en-US" sz="15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8253" y="2059781"/>
            <a:ext cx="1384816" cy="138481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788253" y="366164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Discussion Activity</a:t>
            </a:r>
            <a:endParaRPr lang="en-US" sz="1950" dirty="0"/>
          </a:p>
        </p:txBody>
      </p:sp>
      <p:sp>
        <p:nvSpPr>
          <p:cNvPr id="15" name="Text 9"/>
          <p:cNvSpPr/>
          <p:nvPr/>
        </p:nvSpPr>
        <p:spPr>
          <a:xfrm>
            <a:off x="10788253" y="4075986"/>
            <a:ext cx="3147536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Level of participation in peer discussions</a:t>
            </a:r>
            <a:endParaRPr lang="en-US" sz="15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611" y="5018603"/>
            <a:ext cx="1384816" cy="138481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94611" y="662047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Parent Involvement</a:t>
            </a:r>
            <a:endParaRPr lang="en-US" sz="1950" dirty="0"/>
          </a:p>
        </p:txBody>
      </p:sp>
      <p:sp>
        <p:nvSpPr>
          <p:cNvPr id="18" name="Text 11"/>
          <p:cNvSpPr/>
          <p:nvPr/>
        </p:nvSpPr>
        <p:spPr>
          <a:xfrm>
            <a:off x="694611" y="7034808"/>
            <a:ext cx="3147417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Degree of parental engagement in learning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68291" y="486728"/>
            <a:ext cx="5620941" cy="520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2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Data Preprocessing Pipeline</a:t>
            </a:r>
            <a:endParaRPr lang="en-US" sz="3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8291" y="1251823"/>
            <a:ext cx="11493698" cy="504539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518082" y="4912312"/>
            <a:ext cx="2014726" cy="31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Encode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3518082" y="5312213"/>
            <a:ext cx="2014726" cy="431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5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Label-encode categorical variables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9174811" y="4834823"/>
            <a:ext cx="2014726" cy="31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Scale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9174811" y="5234724"/>
            <a:ext cx="2014726" cy="431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5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Apply StandardScaler to normalise ranges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6363052" y="1780908"/>
            <a:ext cx="2014725" cy="311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Select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6363052" y="2180809"/>
            <a:ext cx="2014725" cy="647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5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Choose key behavioural and academic features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1448395" y="6434733"/>
            <a:ext cx="5783461" cy="1308140"/>
          </a:xfrm>
          <a:prstGeom prst="roundRect">
            <a:avLst>
              <a:gd name="adj" fmla="val 1910"/>
            </a:avLst>
          </a:prstGeom>
          <a:solidFill>
            <a:srgbClr val="F94CAF"/>
          </a:solidFill>
          <a:ln/>
        </p:spPr>
      </p:sp>
      <p:sp>
        <p:nvSpPr>
          <p:cNvPr id="11" name="Text 8"/>
          <p:cNvSpPr/>
          <p:nvPr/>
        </p:nvSpPr>
        <p:spPr>
          <a:xfrm>
            <a:off x="1614964" y="6557010"/>
            <a:ext cx="2082165" cy="260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Why Scaling Matters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614964" y="6939558"/>
            <a:ext cx="5450324" cy="693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 xml:space="preserve">Clustering algorithms rely on </a:t>
            </a:r>
            <a:pPr algn="l"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distance calculations</a:t>
            </a:r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 Without scaling, features with larger numeric ranges dominate the clusters — StandardScaler ensures every feature contributes fairly.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525822" y="6557010"/>
            <a:ext cx="2082165" cy="260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Encoding Approach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525822" y="6939558"/>
            <a:ext cx="5543669" cy="693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 xml:space="preserve">Categorical variables like Gender and Relation were converted to numerical form using </a:t>
            </a:r>
            <a:pPr algn="l"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Label Encoding</a:t>
            </a:r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, making them compatible with distance-based algorithms.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35123" y="471845"/>
            <a:ext cx="7406521" cy="487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0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Finding the Optimal Number of Clusters</a:t>
            </a:r>
            <a:endParaRPr lang="en-US" sz="3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5123" y="1240393"/>
            <a:ext cx="5189815" cy="5189815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5123" y="1240393"/>
            <a:ext cx="5189815" cy="518981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12844" y="3011686"/>
            <a:ext cx="2046565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Two-Method Validation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7512844" y="3362444"/>
            <a:ext cx="5189815" cy="421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 xml:space="preserve">Using both methods together provides a </a:t>
            </a:r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more reliable estimate</a:t>
            </a:r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 xml:space="preserve"> of K than relying on either alone.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7512844" y="3904059"/>
            <a:ext cx="5189815" cy="741402"/>
          </a:xfrm>
          <a:prstGeom prst="roundRect">
            <a:avLst>
              <a:gd name="adj" fmla="val 3155"/>
            </a:avLst>
          </a:prstGeom>
          <a:solidFill>
            <a:srgbClr val="022349"/>
          </a:solidFill>
          <a:ln/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8697" y="4114800"/>
            <a:ext cx="194905" cy="15585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019455" y="4050149"/>
            <a:ext cx="4527352" cy="421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The optimal K is computed programmatically — the graphs confirm and validate the selection.</a:t>
            </a:r>
            <a:endParaRPr lang="en-US" sz="1200" dirty="0"/>
          </a:p>
        </p:txBody>
      </p:sp>
      <p:sp>
        <p:nvSpPr>
          <p:cNvPr id="10" name="Shape 5"/>
          <p:cNvSpPr/>
          <p:nvPr/>
        </p:nvSpPr>
        <p:spPr>
          <a:xfrm>
            <a:off x="1935123" y="6671429"/>
            <a:ext cx="5326380" cy="1086326"/>
          </a:xfrm>
          <a:prstGeom prst="roundRect">
            <a:avLst>
              <a:gd name="adj" fmla="val 10101"/>
            </a:avLst>
          </a:prstGeom>
          <a:solidFill>
            <a:srgbClr val="241631"/>
          </a:solidFill>
          <a:ln w="22860">
            <a:solidFill>
              <a:srgbClr val="5C4E69"/>
            </a:solidFill>
            <a:prstDash val="solid"/>
          </a:ln>
        </p:spPr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2263" y="6671429"/>
            <a:ext cx="91440" cy="108632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2182416" y="6850142"/>
            <a:ext cx="1949291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Elbow Method</a:t>
            </a:r>
            <a:endParaRPr lang="en-US" sz="1500" dirty="0"/>
          </a:p>
        </p:txBody>
      </p:sp>
      <p:sp>
        <p:nvSpPr>
          <p:cNvPr id="13" name="Text 7"/>
          <p:cNvSpPr/>
          <p:nvPr/>
        </p:nvSpPr>
        <p:spPr>
          <a:xfrm>
            <a:off x="2182416" y="7158038"/>
            <a:ext cx="4900374" cy="421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Identifies where adding more clusters yields diminishing returns on inertia reduction</a:t>
            </a:r>
            <a:endParaRPr lang="en-US" sz="1200" dirty="0"/>
          </a:p>
        </p:txBody>
      </p:sp>
      <p:sp>
        <p:nvSpPr>
          <p:cNvPr id="14" name="Shape 8"/>
          <p:cNvSpPr/>
          <p:nvPr/>
        </p:nvSpPr>
        <p:spPr>
          <a:xfrm>
            <a:off x="7368659" y="6671429"/>
            <a:ext cx="5326499" cy="1086326"/>
          </a:xfrm>
          <a:prstGeom prst="roundRect">
            <a:avLst>
              <a:gd name="adj" fmla="val 10101"/>
            </a:avLst>
          </a:prstGeom>
          <a:solidFill>
            <a:srgbClr val="241631"/>
          </a:solidFill>
          <a:ln w="22860">
            <a:solidFill>
              <a:srgbClr val="5C4E69"/>
            </a:solidFill>
            <a:prstDash val="solid"/>
          </a:ln>
        </p:spPr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5799" y="6671429"/>
            <a:ext cx="91440" cy="108632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615952" y="6850142"/>
            <a:ext cx="1949291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Silhouette Score</a:t>
            </a:r>
            <a:endParaRPr lang="en-US" sz="1500" dirty="0"/>
          </a:p>
        </p:txBody>
      </p:sp>
      <p:sp>
        <p:nvSpPr>
          <p:cNvPr id="17" name="Text 10"/>
          <p:cNvSpPr/>
          <p:nvPr/>
        </p:nvSpPr>
        <p:spPr>
          <a:xfrm>
            <a:off x="7615952" y="7158038"/>
            <a:ext cx="4900493" cy="421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Quantifies how similar each point is to its own cluster vs. neighbouring clusters (range: −1 to 1)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01460" y="560665"/>
            <a:ext cx="5536525" cy="553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4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Five Algorithms, One Goal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1201460" y="1391245"/>
            <a:ext cx="12227362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The project benchmarks five distinct clustering approaches to identify which best captures student groupings.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201460" y="1799392"/>
            <a:ext cx="708779" cy="1063228"/>
          </a:xfrm>
          <a:prstGeom prst="roundRect">
            <a:avLst>
              <a:gd name="adj" fmla="val 360030"/>
            </a:avLst>
          </a:prstGeom>
          <a:solidFill>
            <a:srgbClr val="433550"/>
          </a:solidFill>
          <a:ln/>
        </p:spPr>
      </p:sp>
      <p:sp>
        <p:nvSpPr>
          <p:cNvPr id="5" name="Text 3"/>
          <p:cNvSpPr/>
          <p:nvPr/>
        </p:nvSpPr>
        <p:spPr>
          <a:xfrm>
            <a:off x="1422916" y="2164913"/>
            <a:ext cx="265748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20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1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2048589" y="1976557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K-Means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048589" y="2336363"/>
            <a:ext cx="11380232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Centroid-based, hard assignment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201460" y="3000970"/>
            <a:ext cx="708779" cy="1063228"/>
          </a:xfrm>
          <a:prstGeom prst="roundRect">
            <a:avLst>
              <a:gd name="adj" fmla="val 360030"/>
            </a:avLst>
          </a:prstGeom>
          <a:solidFill>
            <a:srgbClr val="433550"/>
          </a:solidFill>
          <a:ln/>
        </p:spPr>
      </p:sp>
      <p:sp>
        <p:nvSpPr>
          <p:cNvPr id="9" name="Text 7"/>
          <p:cNvSpPr/>
          <p:nvPr/>
        </p:nvSpPr>
        <p:spPr>
          <a:xfrm>
            <a:off x="1422916" y="3366492"/>
            <a:ext cx="265748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20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2</a:t>
            </a:r>
            <a:endParaRPr lang="en-US" sz="2050" dirty="0"/>
          </a:p>
        </p:txBody>
      </p:sp>
      <p:sp>
        <p:nvSpPr>
          <p:cNvPr id="10" name="Text 8"/>
          <p:cNvSpPr/>
          <p:nvPr/>
        </p:nvSpPr>
        <p:spPr>
          <a:xfrm>
            <a:off x="2048589" y="3178135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MiniBatch K-Means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048589" y="3537942"/>
            <a:ext cx="11380232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Faster, scalable variant of K-Means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201460" y="4202549"/>
            <a:ext cx="708779" cy="1063228"/>
          </a:xfrm>
          <a:prstGeom prst="roundRect">
            <a:avLst>
              <a:gd name="adj" fmla="val 360030"/>
            </a:avLst>
          </a:prstGeom>
          <a:solidFill>
            <a:srgbClr val="433550"/>
          </a:solidFill>
          <a:ln/>
        </p:spPr>
      </p:sp>
      <p:sp>
        <p:nvSpPr>
          <p:cNvPr id="13" name="Text 11"/>
          <p:cNvSpPr/>
          <p:nvPr/>
        </p:nvSpPr>
        <p:spPr>
          <a:xfrm>
            <a:off x="1422916" y="4568071"/>
            <a:ext cx="265748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20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3</a:t>
            </a:r>
            <a:endParaRPr lang="en-US" sz="2050" dirty="0"/>
          </a:p>
        </p:txBody>
      </p:sp>
      <p:sp>
        <p:nvSpPr>
          <p:cNvPr id="14" name="Text 12"/>
          <p:cNvSpPr/>
          <p:nvPr/>
        </p:nvSpPr>
        <p:spPr>
          <a:xfrm>
            <a:off x="2048589" y="4379714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Agglomerative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048589" y="4739521"/>
            <a:ext cx="11380232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Hierarchical, bottom-up merging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1201460" y="5404128"/>
            <a:ext cx="708779" cy="1063228"/>
          </a:xfrm>
          <a:prstGeom prst="roundRect">
            <a:avLst>
              <a:gd name="adj" fmla="val 360030"/>
            </a:avLst>
          </a:prstGeom>
          <a:solidFill>
            <a:srgbClr val="433550"/>
          </a:solidFill>
          <a:ln/>
        </p:spPr>
      </p:sp>
      <p:sp>
        <p:nvSpPr>
          <p:cNvPr id="17" name="Text 15"/>
          <p:cNvSpPr/>
          <p:nvPr/>
        </p:nvSpPr>
        <p:spPr>
          <a:xfrm>
            <a:off x="1422916" y="5769650"/>
            <a:ext cx="265748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20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4</a:t>
            </a:r>
            <a:endParaRPr lang="en-US" sz="2050" dirty="0"/>
          </a:p>
        </p:txBody>
      </p:sp>
      <p:sp>
        <p:nvSpPr>
          <p:cNvPr id="18" name="Text 16"/>
          <p:cNvSpPr/>
          <p:nvPr/>
        </p:nvSpPr>
        <p:spPr>
          <a:xfrm>
            <a:off x="2048589" y="5581293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DBSCAN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2048589" y="5941100"/>
            <a:ext cx="11380232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Density-based, noise-aware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1201460" y="6605707"/>
            <a:ext cx="708779" cy="1063228"/>
          </a:xfrm>
          <a:prstGeom prst="roundRect">
            <a:avLst>
              <a:gd name="adj" fmla="val 360030"/>
            </a:avLst>
          </a:prstGeom>
          <a:solidFill>
            <a:srgbClr val="433550"/>
          </a:solidFill>
          <a:ln/>
        </p:spPr>
      </p:sp>
      <p:sp>
        <p:nvSpPr>
          <p:cNvPr id="21" name="Text 19"/>
          <p:cNvSpPr/>
          <p:nvPr/>
        </p:nvSpPr>
        <p:spPr>
          <a:xfrm>
            <a:off x="1422916" y="6971228"/>
            <a:ext cx="265748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20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5</a:t>
            </a:r>
            <a:endParaRPr lang="en-US" sz="2050" dirty="0"/>
          </a:p>
        </p:txBody>
      </p:sp>
      <p:sp>
        <p:nvSpPr>
          <p:cNvPr id="22" name="Text 20"/>
          <p:cNvSpPr/>
          <p:nvPr/>
        </p:nvSpPr>
        <p:spPr>
          <a:xfrm>
            <a:off x="2048589" y="6782872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GMM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2048589" y="7142678"/>
            <a:ext cx="11380232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Probabilistic, soft cluster boundaries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01460" y="556736"/>
            <a:ext cx="7529632" cy="553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4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K-Means: The Best Performing Model</a:t>
            </a:r>
            <a:endParaRPr lang="en-US" sz="3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1460" y="1473875"/>
            <a:ext cx="3998595" cy="39985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39872" y="3020020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How K-Means Works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5639872" y="3435191"/>
            <a:ext cx="7796451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 xml:space="preserve">K-Means iteratively assigns each data point to the </a:t>
            </a:r>
            <a:pPr algn="l" indent="0" marL="0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nearest centroid</a:t>
            </a:r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, then recomputes centroids until cluster assignments stabilise.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1201460" y="5783937"/>
            <a:ext cx="3983474" cy="1888927"/>
          </a:xfrm>
          <a:prstGeom prst="roundRect">
            <a:avLst>
              <a:gd name="adj" fmla="val 1407"/>
            </a:avLst>
          </a:prstGeom>
          <a:solidFill>
            <a:srgbClr val="433550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8625" y="5961102"/>
            <a:ext cx="531614" cy="531614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24833" y="6107311"/>
            <a:ext cx="239197" cy="23919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378625" y="6631067"/>
            <a:ext cx="2545437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Well-Separated Clusters</a:t>
            </a:r>
            <a:endParaRPr lang="en-US" sz="1700" dirty="0"/>
          </a:p>
        </p:txBody>
      </p:sp>
      <p:sp>
        <p:nvSpPr>
          <p:cNvPr id="10" name="Text 5"/>
          <p:cNvSpPr/>
          <p:nvPr/>
        </p:nvSpPr>
        <p:spPr>
          <a:xfrm>
            <a:off x="1378625" y="6990874"/>
            <a:ext cx="3629144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Distinct student groups emerged with minimal overlap</a:t>
            </a:r>
            <a:endParaRPr lang="en-US" sz="1350" dirty="0"/>
          </a:p>
        </p:txBody>
      </p:sp>
      <p:sp>
        <p:nvSpPr>
          <p:cNvPr id="11" name="Shape 6"/>
          <p:cNvSpPr/>
          <p:nvPr/>
        </p:nvSpPr>
        <p:spPr>
          <a:xfrm>
            <a:off x="5323284" y="5783937"/>
            <a:ext cx="3983593" cy="1888927"/>
          </a:xfrm>
          <a:prstGeom prst="roundRect">
            <a:avLst>
              <a:gd name="adj" fmla="val 1407"/>
            </a:avLst>
          </a:prstGeom>
          <a:solidFill>
            <a:srgbClr val="433550"/>
          </a:solidFill>
          <a:ln/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0449" y="5961102"/>
            <a:ext cx="531614" cy="531614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46658" y="6107311"/>
            <a:ext cx="239197" cy="239197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500449" y="6631067"/>
            <a:ext cx="2656046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Highest Silhouette Score</a:t>
            </a:r>
            <a:endParaRPr lang="en-US" sz="1700" dirty="0"/>
          </a:p>
        </p:txBody>
      </p:sp>
      <p:sp>
        <p:nvSpPr>
          <p:cNvPr id="15" name="Text 8"/>
          <p:cNvSpPr/>
          <p:nvPr/>
        </p:nvSpPr>
        <p:spPr>
          <a:xfrm>
            <a:off x="5500449" y="6990874"/>
            <a:ext cx="3629263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Outperformed all other algorithms on cluster quality</a:t>
            </a:r>
            <a:endParaRPr lang="en-US" sz="1350" dirty="0"/>
          </a:p>
        </p:txBody>
      </p:sp>
      <p:sp>
        <p:nvSpPr>
          <p:cNvPr id="16" name="Shape 9"/>
          <p:cNvSpPr/>
          <p:nvPr/>
        </p:nvSpPr>
        <p:spPr>
          <a:xfrm>
            <a:off x="9445228" y="5783937"/>
            <a:ext cx="3983474" cy="1888927"/>
          </a:xfrm>
          <a:prstGeom prst="roundRect">
            <a:avLst>
              <a:gd name="adj" fmla="val 1407"/>
            </a:avLst>
          </a:prstGeom>
          <a:solidFill>
            <a:srgbClr val="433550"/>
          </a:solidFill>
          <a:ln/>
        </p:spPr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22393" y="5961102"/>
            <a:ext cx="531614" cy="531614"/>
          </a:xfrm>
          <a:prstGeom prst="rect">
            <a:avLst/>
          </a:prstGeom>
        </p:spPr>
      </p:pic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768602" y="6107311"/>
            <a:ext cx="239197" cy="239197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9622393" y="6631067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Stable Formation</a:t>
            </a:r>
            <a:endParaRPr lang="en-US" sz="1700" dirty="0"/>
          </a:p>
        </p:txBody>
      </p:sp>
      <p:sp>
        <p:nvSpPr>
          <p:cNvPr id="20" name="Text 11"/>
          <p:cNvSpPr/>
          <p:nvPr/>
        </p:nvSpPr>
        <p:spPr>
          <a:xfrm>
            <a:off x="9622393" y="6990874"/>
            <a:ext cx="3629144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Consistent cluster assignments across multiple runs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32905"/>
            <a:ext cx="680370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Comparing All Algorithms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495312"/>
            <a:ext cx="3090505" cy="3182422"/>
          </a:xfrm>
          <a:prstGeom prst="roundRect">
            <a:avLst>
              <a:gd name="adj" fmla="val 1101"/>
            </a:avLst>
          </a:prstGeom>
          <a:solidFill>
            <a:srgbClr val="241631"/>
          </a:solidFill>
          <a:ln w="30480">
            <a:solidFill>
              <a:srgbClr val="5C4E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084" y="2752606"/>
            <a:ext cx="25759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MiniBatch K-Means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084" y="3243024"/>
            <a:ext cx="257591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94CA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Faster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 xml:space="preserve"> training on large data, but trades a slight drop in accuracy for speed. Ideal for scaling.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4111109" y="2495312"/>
            <a:ext cx="3090624" cy="3182422"/>
          </a:xfrm>
          <a:prstGeom prst="roundRect">
            <a:avLst>
              <a:gd name="adj" fmla="val 1101"/>
            </a:avLst>
          </a:prstGeom>
          <a:solidFill>
            <a:srgbClr val="241631"/>
          </a:solidFill>
          <a:ln w="30480">
            <a:solidFill>
              <a:srgbClr val="5C4E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68403" y="2752606"/>
            <a:ext cx="257603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Agglomerative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368403" y="3243024"/>
            <a:ext cx="2576036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 xml:space="preserve">Produces an interpretable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dendrogram hierarchy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, but memory and compute costs rise sharply with data size.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428548" y="2495312"/>
            <a:ext cx="3090624" cy="3182422"/>
          </a:xfrm>
          <a:prstGeom prst="roundRect">
            <a:avLst>
              <a:gd name="adj" fmla="val 1101"/>
            </a:avLst>
          </a:prstGeom>
          <a:solidFill>
            <a:srgbClr val="241631"/>
          </a:solidFill>
          <a:ln w="30480">
            <a:solidFill>
              <a:srgbClr val="5C4E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5842" y="2752606"/>
            <a:ext cx="257603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DBSCAN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685842" y="3243024"/>
            <a:ext cx="257603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 xml:space="preserve">Effective at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detecting noise/outliers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, but struggled with the varying density and shapes in this dataset.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10745986" y="2495312"/>
            <a:ext cx="3090624" cy="3182422"/>
          </a:xfrm>
          <a:prstGeom prst="roundRect">
            <a:avLst>
              <a:gd name="adj" fmla="val 1101"/>
            </a:avLst>
          </a:prstGeom>
          <a:solidFill>
            <a:srgbClr val="241631"/>
          </a:solidFill>
          <a:ln w="30480">
            <a:solidFill>
              <a:srgbClr val="5C4E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003280" y="2752606"/>
            <a:ext cx="257603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GMM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003280" y="3243024"/>
            <a:ext cx="2576036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 xml:space="preserve">Enables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soft, probabilistic assignments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, but cluster boundaries were less decisive — reducing interpretability.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93790" y="5932884"/>
            <a:ext cx="13042821" cy="963811"/>
          </a:xfrm>
          <a:prstGeom prst="roundRect">
            <a:avLst>
              <a:gd name="adj" fmla="val 3530"/>
            </a:avLst>
          </a:prstGeom>
          <a:solidFill>
            <a:srgbClr val="4A022B"/>
          </a:solidFill>
          <a:ln/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604" y="6269355"/>
            <a:ext cx="283488" cy="22681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530906" y="6216372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Each algorithm has its strengths — context and data shape determine the best fit.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12846" y="508516"/>
            <a:ext cx="3987165" cy="498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Evaluation Metrics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1812846" y="3562707"/>
            <a:ext cx="3188970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Primary Metric: Silhouette Score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812846" y="3923824"/>
            <a:ext cx="5307687" cy="4345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 xml:space="preserve">Measures how well each point fits its assigned cluster relative to neighbouring clusters. The closer to </a:t>
            </a:r>
            <a:pPr algn="l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+1</a:t>
            </a:r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, the better.</a:t>
            </a:r>
            <a:endParaRPr lang="en-US" sz="12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7249" y="1301115"/>
            <a:ext cx="5307687" cy="5307687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7249" y="1301115"/>
            <a:ext cx="5307687" cy="5307687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812846" y="6860977"/>
            <a:ext cx="5446276" cy="860108"/>
          </a:xfrm>
          <a:prstGeom prst="roundRect">
            <a:avLst>
              <a:gd name="adj" fmla="val 2781"/>
            </a:avLst>
          </a:prstGeom>
          <a:solidFill>
            <a:srgbClr val="433550"/>
          </a:solidFill>
          <a:ln/>
        </p:spPr>
      </p:sp>
      <p:sp>
        <p:nvSpPr>
          <p:cNvPr id="8" name="Text 4"/>
          <p:cNvSpPr/>
          <p:nvPr/>
        </p:nvSpPr>
        <p:spPr>
          <a:xfrm>
            <a:off x="1972270" y="7020401"/>
            <a:ext cx="1993583" cy="256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 xml:space="preserve">K-Means </a:t>
            </a:r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✅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1972270" y="7344370"/>
            <a:ext cx="5127427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Highest silhouette score — best separation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7371159" y="6860977"/>
            <a:ext cx="5446276" cy="860108"/>
          </a:xfrm>
          <a:prstGeom prst="roundRect">
            <a:avLst>
              <a:gd name="adj" fmla="val 2781"/>
            </a:avLst>
          </a:prstGeom>
          <a:solidFill>
            <a:srgbClr val="433550"/>
          </a:solidFill>
          <a:ln/>
        </p:spPr>
      </p:sp>
      <p:sp>
        <p:nvSpPr>
          <p:cNvPr id="11" name="Text 7"/>
          <p:cNvSpPr/>
          <p:nvPr/>
        </p:nvSpPr>
        <p:spPr>
          <a:xfrm>
            <a:off x="7530584" y="7020401"/>
            <a:ext cx="1993583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Others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7530584" y="7336750"/>
            <a:ext cx="5127427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Lower scores — less cohesive groupings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43355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48" y="608290"/>
            <a:ext cx="5259586" cy="701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0190" y="1376124"/>
            <a:ext cx="623673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Results &amp; Key Insights</a:t>
            </a:r>
            <a:endParaRPr lang="en-US" sz="4450" dirty="0"/>
          </a:p>
        </p:txBody>
      </p:sp>
      <p:sp>
        <p:nvSpPr>
          <p:cNvPr id="5" name="Shape 2"/>
          <p:cNvSpPr/>
          <p:nvPr/>
        </p:nvSpPr>
        <p:spPr>
          <a:xfrm>
            <a:off x="6280190" y="2425065"/>
            <a:ext cx="7556421" cy="4428411"/>
          </a:xfrm>
          <a:prstGeom prst="roundRect">
            <a:avLst>
              <a:gd name="adj" fmla="val 768"/>
            </a:avLst>
          </a:prstGeom>
          <a:solidFill>
            <a:srgbClr val="433550"/>
          </a:solidFill>
          <a:ln/>
        </p:spPr>
      </p:sp>
      <p:sp>
        <p:nvSpPr>
          <p:cNvPr id="6" name="Shape 3"/>
          <p:cNvSpPr/>
          <p:nvPr/>
        </p:nvSpPr>
        <p:spPr>
          <a:xfrm>
            <a:off x="6280190" y="2425065"/>
            <a:ext cx="3778210" cy="2758559"/>
          </a:xfrm>
          <a:prstGeom prst="roundRect">
            <a:avLst>
              <a:gd name="adj" fmla="val 1233"/>
            </a:avLst>
          </a:prstGeom>
          <a:solidFill>
            <a:srgbClr val="433550"/>
          </a:solidFill>
          <a:ln/>
        </p:spPr>
      </p:sp>
      <p:sp>
        <p:nvSpPr>
          <p:cNvPr id="7" name="Text 4"/>
          <p:cNvSpPr/>
          <p:nvPr/>
        </p:nvSpPr>
        <p:spPr>
          <a:xfrm>
            <a:off x="6507004" y="26518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Best Algorithm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507004" y="3142298"/>
            <a:ext cx="298442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K-Means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 xml:space="preserve"> delivered the clearest, most stable student clusters with the highest silhouette score across all tested methods.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10058400" y="2425065"/>
            <a:ext cx="3778210" cy="2758559"/>
          </a:xfrm>
          <a:prstGeom prst="rect">
            <a:avLst/>
          </a:prstGeom>
          <a:solidFill>
            <a:srgbClr val="433550"/>
          </a:solidFill>
          <a:ln/>
        </p:spPr>
      </p:sp>
      <p:sp>
        <p:nvSpPr>
          <p:cNvPr id="10" name="Shape 7"/>
          <p:cNvSpPr/>
          <p:nvPr/>
        </p:nvSpPr>
        <p:spPr>
          <a:xfrm>
            <a:off x="10058400" y="2425065"/>
            <a:ext cx="30480" cy="2758559"/>
          </a:xfrm>
          <a:prstGeom prst="roundRect">
            <a:avLst>
              <a:gd name="adj" fmla="val 111628"/>
            </a:avLst>
          </a:prstGeom>
          <a:solidFill>
            <a:srgbClr val="5C4E69"/>
          </a:solidFill>
          <a:ln/>
        </p:spPr>
      </p:sp>
      <p:sp>
        <p:nvSpPr>
          <p:cNvPr id="11" name="Text 8"/>
          <p:cNvSpPr/>
          <p:nvPr/>
        </p:nvSpPr>
        <p:spPr>
          <a:xfrm>
            <a:off x="10625376" y="26518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Optimal Clusters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625376" y="3142298"/>
            <a:ext cx="298442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 xml:space="preserve">The elbow and silhouette methods converged on an optimal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K value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 xml:space="preserve"> — computed programmatically from the dataset.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9774912" y="3520797"/>
            <a:ext cx="566976" cy="566976"/>
          </a:xfrm>
          <a:prstGeom prst="roundRect">
            <a:avLst>
              <a:gd name="adj" fmla="val 6001"/>
            </a:avLst>
          </a:prstGeom>
          <a:solidFill>
            <a:srgbClr val="241631"/>
          </a:solidFill>
          <a:ln w="30480">
            <a:solidFill>
              <a:srgbClr val="5C4E69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16597" y="3662482"/>
            <a:ext cx="283488" cy="28348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280190" y="5183624"/>
            <a:ext cx="7556421" cy="1669852"/>
          </a:xfrm>
          <a:prstGeom prst="rect">
            <a:avLst/>
          </a:prstGeom>
          <a:solidFill>
            <a:srgbClr val="433550"/>
          </a:solidFill>
          <a:ln/>
        </p:spPr>
      </p:sp>
      <p:sp>
        <p:nvSpPr>
          <p:cNvPr id="16" name="Shape 12"/>
          <p:cNvSpPr/>
          <p:nvPr/>
        </p:nvSpPr>
        <p:spPr>
          <a:xfrm>
            <a:off x="6280190" y="5183624"/>
            <a:ext cx="7556421" cy="30480"/>
          </a:xfrm>
          <a:prstGeom prst="roundRect">
            <a:avLst>
              <a:gd name="adj" fmla="val 111628"/>
            </a:avLst>
          </a:prstGeom>
          <a:solidFill>
            <a:srgbClr val="5C4E69"/>
          </a:solidFill>
          <a:ln/>
        </p:spPr>
      </p:sp>
      <p:sp>
        <p:nvSpPr>
          <p:cNvPr id="17" name="Text 13"/>
          <p:cNvSpPr/>
          <p:nvPr/>
        </p:nvSpPr>
        <p:spPr>
          <a:xfrm>
            <a:off x="6507004" y="541043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Key Takeaway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6507004" y="5900857"/>
            <a:ext cx="676263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 xml:space="preserve">Unsupervised learning successfully revealed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distinct engagement tiers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 xml:space="preserve"> among students — without a single label.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2026-04-28T05:49:45Z</dcterms:created>
  <dcterms:modified xsi:type="dcterms:W3CDTF">2026-04-28T05:49:45Z</dcterms:modified>
</cp:coreProperties>
</file>